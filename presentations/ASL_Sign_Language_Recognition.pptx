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051560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ASL SIGN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50592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E5C3"/>
                </a:solidFill>
                <a:latin typeface="Calibri"/>
              </a:rPr>
              <a:t>RECOGNITION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493B0"/>
                </a:solidFill>
                <a:latin typeface="Calibri"/>
              </a:rPr>
              <a:t>Real-time Detection · MediaPipe + Keras + FastAPI · 99.18% Accuracy · CPU Optimized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005072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133087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C3"/>
                </a:solidFill>
                <a:latin typeface="Calibri"/>
              </a:rPr>
              <a:t>99.18%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08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493B0"/>
                </a:solidFill>
                <a:latin typeface="Calibri"/>
              </a:rP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4133087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C3"/>
                </a:solidFill>
                <a:latin typeface="Calibri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4608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493B0"/>
                </a:solidFill>
                <a:latin typeface="Calibri"/>
              </a:rPr>
              <a:t>ASL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133087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C3"/>
                </a:solidFill>
                <a:latin typeface="Calibri"/>
              </a:rPr>
              <a:t>&lt;2ms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608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493B0"/>
                </a:solidFill>
                <a:latin typeface="Calibri"/>
              </a:rPr>
              <a:t>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133087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C3"/>
                </a:solidFill>
                <a:latin typeface="Calibri"/>
              </a:rPr>
              <a:t>CPU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608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493B0"/>
                </a:solidFill>
                <a:latin typeface="Calibri"/>
              </a:rPr>
              <a:t>No GPU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133087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C3"/>
                </a:solidFill>
                <a:latin typeface="Calibri"/>
              </a:rPr>
              <a:t>181,720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608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493B0"/>
                </a:solidFill>
                <a:latin typeface="Calibri"/>
              </a:rPr>
              <a:t>Train Samples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74920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8493B0"/>
                </a:solidFill>
                <a:latin typeface="Calibri"/>
              </a:rPr>
              <a:t>Eman Noor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212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493B0"/>
                </a:solidFill>
                <a:latin typeface="Calibri"/>
              </a:rPr>
              <a:t>Deep Learning  ·  Computer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77DD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Why ASL Recognition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61872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3657600" cy="24688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365760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7F77DD"/>
                </a:solidFill>
                <a:latin typeface="Calibri"/>
              </a:rPr>
              <a:t>70M+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Deaf people worldwide use sign
language as primary communication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7040880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463040"/>
            <a:ext cx="704088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19472" y="157276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77DD"/>
                </a:solidFill>
                <a:latin typeface="Calibri"/>
              </a:rPr>
              <a:t>The Communication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86537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Deaf individuals face daily barriers communicating with the hearing world — hospitals, schools, workplaces, public services.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313432"/>
            <a:ext cx="7040880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80" y="2313432"/>
            <a:ext cx="704088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19472" y="242316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No Accessible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71576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Existing tools are slow, require expensive GPU hardware, or are not available as real-time accessible web applications.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163824"/>
            <a:ext cx="7040880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3163824"/>
            <a:ext cx="704088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19472" y="3273552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3"/>
                </a:solidFill>
                <a:latin typeface="Calibri"/>
              </a:rPr>
              <a:t>Our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35661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A real-time CPU-only web ASL recognizer — 99.18% accuracy, live webcam, word builder, production FastAPI, no GPU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069080"/>
            <a:ext cx="2606040" cy="1417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4069080"/>
            <a:ext cx="260604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3"/>
                </a:solidFill>
                <a:latin typeface="Calibri"/>
              </a:rPr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731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ASL Letters Classified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4069080"/>
            <a:ext cx="2606040" cy="1417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0" y="4069080"/>
            <a:ext cx="260604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39" y="42245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78ADD"/>
                </a:solidFill>
                <a:latin typeface="Calibri"/>
              </a:rPr>
              <a:t>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7731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Landmark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069080"/>
            <a:ext cx="2606040" cy="1417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92240" y="4069080"/>
            <a:ext cx="260604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2245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F77DD"/>
                </a:solidFill>
                <a:latin typeface="Calibri"/>
              </a:rPr>
              <a:t>3×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7731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Data Augmentation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4069080"/>
            <a:ext cx="2606040" cy="1417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326880" y="4069080"/>
            <a:ext cx="260604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0" y="42245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9F27"/>
                </a:solidFill>
                <a:latin typeface="Calibri"/>
              </a:rPr>
              <a:t>Python 3.11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7731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Runtime Environment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2960" y="5623560"/>
            <a:ext cx="54864" cy="658368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7552" y="5687568"/>
            <a:ext cx="10149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493B0"/>
                </a:solidFill>
                <a:latin typeface="Calibri"/>
              </a:rPr>
              <a:t>Project Goal: Build a real-time, CPU-only, production-grade ASL recognition web application with a professional inference API and live webcam demo — accessible to anyone, anywhere, on any machine.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333F52"/>
                </a:solidFill>
                <a:latin typeface="Calibri"/>
              </a:rPr>
              <a:t>Eman Noor  ·  ASL Sign Language Recognition  ·  Deep Learning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C3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61872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2057400" cy="24688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444752"/>
            <a:ext cx="205740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39" y="15727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C3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19933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Webcam
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2505456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Browser MediaStream
API · 8 FPS · JPEG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578608"/>
            <a:ext cx="210312" cy="64008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54680" y="1444752"/>
            <a:ext cx="2057400" cy="24688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54680" y="1444752"/>
            <a:ext cx="205740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5727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78ADD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933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MediaPipe
Hands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505456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21 landmarks · 3D
63 float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578608"/>
            <a:ext cx="210312" cy="64008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40680" y="1444752"/>
            <a:ext cx="2057400" cy="24688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40680" y="1444752"/>
            <a:ext cx="205740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7840" y="15727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F77DD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19933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Landmark
Norm.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505456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Wrist-centered
scale invariant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578608"/>
            <a:ext cx="210312" cy="64008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26679" y="1444752"/>
            <a:ext cx="2057400" cy="24688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26679" y="1444752"/>
            <a:ext cx="205740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15727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F9F27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19933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Keras
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505456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512→256→128
→64→26 classes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578608"/>
            <a:ext cx="210312" cy="64008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12680" y="1444752"/>
            <a:ext cx="2057400" cy="24688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12680" y="1444752"/>
            <a:ext cx="2057400" cy="54864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49840" y="15727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85A30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19933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FastAPI
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505456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JSON: letter,conf
top5,landmarks,ms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160520"/>
            <a:ext cx="2651760" cy="960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68680" y="4160520"/>
            <a:ext cx="265176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39" y="42793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Calibri"/>
              </a:rPr>
              <a:t>POST /api/predict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39" y="45902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Accepts image upload · Returns JSON prediction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4160520"/>
            <a:ext cx="2651760" cy="960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03320" y="4160520"/>
            <a:ext cx="265176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0" y="42793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ADD"/>
                </a:solidFill>
                <a:latin typeface="Calibri"/>
              </a:rPr>
              <a:t>GET /api/health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5902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Model status · loaded classes · ready check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4160520"/>
            <a:ext cx="2651760" cy="960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37960" y="4160520"/>
            <a:ext cx="265176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0" y="42793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77DD"/>
                </a:solidFill>
                <a:latin typeface="Calibri"/>
              </a:rPr>
              <a:t>GET /api/docs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5902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Interactive Swagger UI · test endpoints live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72600" y="4160520"/>
            <a:ext cx="2651760" cy="960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72600" y="4160520"/>
            <a:ext cx="265176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509760" y="42793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9F27"/>
                </a:solidFill>
                <a:latin typeface="Calibri"/>
              </a:rPr>
              <a:t>Frontend JS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459028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Webcam loop · skeleton canvas · word builder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F52"/>
                </a:solidFill>
                <a:latin typeface="Calibri"/>
              </a:rPr>
              <a:t>Eman Noor  ·  ASL Sign Language Recognition  ·  Deep Learning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9F27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ASL Alphabet Dataset — Kaggle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61872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2606040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44752"/>
            <a:ext cx="260604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9F27"/>
                </a:solidFill>
                <a:latin typeface="Calibri"/>
              </a:rPr>
              <a:t>87,000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Raw 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444752"/>
            <a:ext cx="2606040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1444752"/>
            <a:ext cx="260604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15727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3"/>
                </a:solidFill>
                <a:latin typeface="Calibri"/>
              </a:rPr>
              <a:t>63,580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0299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MediaPipe 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444752"/>
            <a:ext cx="2606040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1444752"/>
            <a:ext cx="260604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5727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78ADD"/>
                </a:solidFill>
                <a:latin typeface="Calibri"/>
              </a:rPr>
              <a:t>58,665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299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Clean (26 classes)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444752"/>
            <a:ext cx="2606040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6880" y="1444752"/>
            <a:ext cx="260604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15727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F77DD"/>
                </a:solidFill>
                <a:latin typeface="Calibri"/>
              </a:rPr>
              <a:t>181,720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0299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After augmentation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724912"/>
            <a:ext cx="5303520" cy="2560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2724912"/>
            <a:ext cx="5303520" cy="54864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28529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Classes Removed &amp; Why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3346704"/>
            <a:ext cx="109728" cy="109728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32735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5A30"/>
                </a:solidFill>
                <a:latin typeface="Calibri"/>
              </a:rPr>
              <a:t>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27355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Motion letter — requires dynamic hand movement impossible from single static frame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" y="3986784"/>
            <a:ext cx="109728" cy="109728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391363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5A30"/>
                </a:solidFill>
                <a:latin typeface="Calibri"/>
              </a:rPr>
              <a:t>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9136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Motion letter — traced in air, no static landmark representation possible</a:t>
            </a:r>
          </a:p>
        </p:txBody>
      </p:sp>
      <p:sp>
        <p:nvSpPr>
          <p:cNvPr id="31" name="Oval 30"/>
          <p:cNvSpPr/>
          <p:nvPr/>
        </p:nvSpPr>
        <p:spPr>
          <a:xfrm>
            <a:off x="960120" y="4626864"/>
            <a:ext cx="109728" cy="109728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45537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5A30"/>
                </a:solidFill>
                <a:latin typeface="Calibri"/>
              </a:rPr>
              <a:t>nothing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55371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Only 9 detectable samples after MediaPipe — statistically insufficient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724912"/>
            <a:ext cx="5486400" cy="2560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2724912"/>
            <a:ext cx="548640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28529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3× Data Augmentation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273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Calibri"/>
              </a:rPr>
              <a:t>Gaussian Noise  ±0.015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566160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Simulates sensor jitter and real-world measurement noise in landmark coordinates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Calibri"/>
              </a:rPr>
              <a:t>Scale Jitter  ±10%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206240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Random scaling handles different hand sizes and distances from camera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553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Calibri"/>
              </a:rPr>
              <a:t>2D Rotation  ±15°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846320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Random rotation handles hand tilt variation in real signing conditions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F52"/>
                </a:solidFill>
                <a:latin typeface="Calibri"/>
              </a:rPr>
              <a:t>Eman Noor  ·  ASL Sign Language Recognition  ·  Deep Learning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77DD"/>
                </a:solidFill>
                <a:latin typeface="Calibri"/>
              </a:rP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Keras Dense Neural Network — ~210K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61872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53035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530352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15087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3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08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(63,)  —  21 landmarks × (x, y, 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075688"/>
            <a:ext cx="73152" cy="12801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212848"/>
            <a:ext cx="53035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2212848"/>
            <a:ext cx="530352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3042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77DD"/>
                </a:solidFill>
                <a:latin typeface="Calibri"/>
              </a:rPr>
              <a:t>DENSE 512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042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BatchNorm + ReLU + Dropout(0.4) + L2 reg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871215"/>
            <a:ext cx="73152" cy="12801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2999232"/>
            <a:ext cx="53035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2999232"/>
            <a:ext cx="530352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0906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ADD"/>
                </a:solidFill>
                <a:latin typeface="Calibri"/>
              </a:rPr>
              <a:t>DENSE 256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0906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BatchNorm + ReLU + Dropout(0.35) + L2 reg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3657600"/>
            <a:ext cx="73152" cy="12801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3785615"/>
            <a:ext cx="53035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3785615"/>
            <a:ext cx="530352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387705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DENSE 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877055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BatchNorm + ReLU + Dropout(0.3) + L2 reg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4443983"/>
            <a:ext cx="73152" cy="12801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572000"/>
            <a:ext cx="53035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4572000"/>
            <a:ext cx="5303520" cy="54864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6634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5A30"/>
                </a:solidFill>
                <a:latin typeface="Calibri"/>
              </a:rPr>
              <a:t>DENSE 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6634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BatchNorm + ReLU + Dropout(0.2) + L2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5230368"/>
            <a:ext cx="73152" cy="12801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5358384"/>
            <a:ext cx="53035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5358384"/>
            <a:ext cx="530352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" y="54498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3"/>
                </a:solidFill>
                <a:latin typeface="Calibri"/>
              </a:rPr>
              <a:t>OUTPUT 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4498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Softmax  —  A to Z, del, space (26 classes)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1417320"/>
            <a:ext cx="5303520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0" y="1417320"/>
            <a:ext cx="530352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14721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3"/>
                </a:solidFill>
                <a:latin typeface="Calibri"/>
              </a:rPr>
              <a:t>~210K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187451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Parameters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2331720"/>
            <a:ext cx="5303520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83680" y="2331720"/>
            <a:ext cx="530352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0" y="23865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3"/>
                </a:solidFill>
                <a:latin typeface="Calibri"/>
              </a:rPr>
              <a:t>99.18%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27889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Test Accuracy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246120"/>
            <a:ext cx="5303520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83680" y="3246120"/>
            <a:ext cx="530352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0" y="33009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78ADD"/>
                </a:solidFill>
                <a:latin typeface="Calibri"/>
              </a:rPr>
              <a:t>99.42%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7033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Val Accuracy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4160520"/>
            <a:ext cx="5303520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4160520"/>
            <a:ext cx="530352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0" y="421538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F77DD"/>
                </a:solidFill>
                <a:latin typeface="Calibri"/>
              </a:rPr>
              <a:t>&lt;2 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6177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CPU Inference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5074920"/>
            <a:ext cx="5303520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583680" y="5074920"/>
            <a:ext cx="530352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0" y="512978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9F27"/>
                </a:solidFill>
                <a:latin typeface="Calibri"/>
              </a:rPr>
              <a:t>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5321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Best Epoch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5989320"/>
            <a:ext cx="5303520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583680" y="5989320"/>
            <a:ext cx="5303520" cy="54864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75120" y="604418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85A30"/>
                </a:solidFill>
                <a:latin typeface="Calibri"/>
              </a:rPr>
              <a:t>0.0663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64465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Test Loss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6492240"/>
            <a:ext cx="5394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333F52"/>
                </a:solidFill>
                <a:latin typeface="Calibri"/>
              </a:rPr>
              <a:t>Eman Noor  ·  ASL Sign Language Recognition  ·  Deep Learning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ADD"/>
                </a:solidFill>
                <a:latin typeface="Calibri"/>
              </a:rPr>
              <a:t>TRAINING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Techniques Used to Achieve 99.18%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61872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548640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44752"/>
            <a:ext cx="548640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554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3"/>
                </a:solidFill>
                <a:latin typeface="Calibri"/>
              </a:rPr>
              <a:t>Cosine LR + Warm-up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901952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LR warms up over 5 epochs to 5e-4 then follows cosine decay to 1e-7. Prevents early divergence and enables smooth convergence.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44752"/>
            <a:ext cx="548640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1444752"/>
            <a:ext cx="548640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8272" y="1554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ADD"/>
                </a:solidFill>
                <a:latin typeface="Calibri"/>
              </a:rPr>
              <a:t>L2 Regularization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901952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Weight penalty of 1e-4 on all Dense layers forces the model to learn generalizable features rather than memorizing training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980944"/>
            <a:ext cx="548640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2980944"/>
            <a:ext cx="548640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0906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77DD"/>
                </a:solidFill>
                <a:latin typeface="Calibri"/>
              </a:rPr>
              <a:t>BatchNormalization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438144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Applied after every Dense layer — normalizes activations, speeds training, reduces covariate shift, provides additional regularization.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980944"/>
            <a:ext cx="548640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0" y="2980944"/>
            <a:ext cx="548640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48272" y="30906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Class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438144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Balanced class weights correct for imbalance between N (1,275 samples) and F (2,864 samples) — every class gets equal training focus.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517136"/>
            <a:ext cx="548640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4517136"/>
            <a:ext cx="5486400" cy="54864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62686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5A30"/>
                </a:solidFill>
                <a:latin typeface="Calibri"/>
              </a:rPr>
              <a:t>Early Stopping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974336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Monitors val_accuracy with patience=15. Restored best weights from epoch 64. Training stopped at epoch 79 — no overfitting.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517136"/>
            <a:ext cx="548640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0" y="4517136"/>
            <a:ext cx="548640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462686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ADD"/>
                </a:solidFill>
                <a:latin typeface="Calibri"/>
              </a:rPr>
              <a:t>Decreasing Dropout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974336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0.4→0.35→0.3→0.2 schedule. Higher dropout early forces robust features; lighter dropout near output preserves fine classification.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F52"/>
                </a:solidFill>
                <a:latin typeface="Calibri"/>
              </a:rPr>
              <a:t>Eman Noor  ·  ASL Sign Language Recognition  ·  Deep Learning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99.18% Test Accuracy on 7,040 Unseen Samples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61872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3291840" cy="2240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1444752"/>
            <a:ext cx="329184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000" b="1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99.18%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7,040 held-out samples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44752"/>
            <a:ext cx="7589520" cy="2240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89120" y="1444752"/>
            <a:ext cx="75895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6280" y="15727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Per-Class F1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38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1938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1938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1938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1938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938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1938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938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1938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1938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1938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6416" y="1938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45367" y="1938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56263" y="1938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3317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23317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3317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7024" y="23317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5976" y="23317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23317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4" y="23317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3317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5672" y="23317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7" y="23317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F9F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3317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6416" y="23317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F9F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45367" y="23317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56263" y="23317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27249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37176" y="272491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96128" y="27249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7024" y="272491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5976" y="27249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76872" y="272491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35824" y="27249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272491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5672" y="27249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16567" y="272491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27249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86416" y="272491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45367" y="27249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56263" y="272491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6280" y="31181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37176" y="311810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96128" y="31181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7024" y="311810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65976" y="31181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76872" y="311810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35824" y="31181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0" y="311810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05672" y="31181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16567" y="311810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" y="3858768"/>
            <a:ext cx="5303520" cy="2331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22960" y="3858768"/>
            <a:ext cx="5303520" cy="54864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60120" y="39867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Confusion Pairs + Mitigations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120" y="44074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D85A3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→ 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20240" y="440740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F9F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040" y="44074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 curl fingers over thumb — mitigated via geometric landmark check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" y="48006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D85A3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 → 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48006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F9F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06040" y="48006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Nearly identical hand position — differ only in slight finger angle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120" y="51937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D85A3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 → 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20240" y="519379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F9F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06040" y="51937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Similar rounded finger curl pattern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" y="55869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D85A3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 → 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55869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EF9F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06040" y="558698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Fingers folded in nearly identical configuration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3858768"/>
            <a:ext cx="5577840" cy="2331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6400800" y="3858768"/>
            <a:ext cx="557784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537960" y="39867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These Results Are Credible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37960" y="4370832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8493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confused pairs are visually similar even to human signers. The model shows genuine pattern learning — not memorization. A suspiciously perfect model with zero confusion would be less credible. 99.18% on 7,040 truly unseen samples is a statistically robust result across all 26 classes.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333F5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Eman Noor  ·  ASL Sign Language Recognition  ·  Deep Learning Project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961888"/>
            <a:ext cx="10515600" cy="347472"/>
          </a:xfrm>
          <a:prstGeom prst="rect">
            <a:avLst/>
          </a:prstGeom>
          <a:solidFill>
            <a:srgbClr val="0F2E24"/>
          </a:solidFill>
          <a:ln w="6350">
            <a:solidFill>
              <a:srgbClr val="00E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14400" y="598932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E5C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✓ Mitigated:  N/M — geometric landmark disambiguation added in frontend  ·  Lighting — real-time brightness detection with user warning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9F27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Industry-Standard Tools &amp;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61872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5486400" cy="2103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44752"/>
            <a:ext cx="548640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3"/>
                </a:solidFill>
                <a:latin typeface="Calibri"/>
              </a:rPr>
              <a:t>Model &amp; ML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2039112"/>
            <a:ext cx="91440" cy="91440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144" y="19476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TensorFlow/Keras 2.21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19476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Dense network training + inference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2423160"/>
            <a:ext cx="91440" cy="91440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23317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MediaPipe 0.10+ Tasks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3317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21-landmark hand detection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2807208"/>
            <a:ext cx="91440" cy="91440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27157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7157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Preprocessing, metrics, class weights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" y="3191256"/>
            <a:ext cx="91440" cy="91440"/>
          </a:xfrm>
          <a:prstGeom prst="ellipse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52144" y="309981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NumPy / Pandas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09981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Data manipulation + augmentation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444752"/>
            <a:ext cx="5486400" cy="2103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0" y="1444752"/>
            <a:ext cx="548640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1554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ADD"/>
                </a:solidFill>
                <a:latin typeface="Calibri"/>
              </a:rPr>
              <a:t>Backend API</a:t>
            </a:r>
          </a:p>
        </p:txBody>
      </p:sp>
      <p:sp>
        <p:nvSpPr>
          <p:cNvPr id="24" name="Oval 23"/>
          <p:cNvSpPr/>
          <p:nvPr/>
        </p:nvSpPr>
        <p:spPr>
          <a:xfrm>
            <a:off x="6748272" y="2039112"/>
            <a:ext cx="91440" cy="9144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12864" y="19476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19476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High-performance async REST API</a:t>
            </a:r>
          </a:p>
        </p:txBody>
      </p:sp>
      <p:sp>
        <p:nvSpPr>
          <p:cNvPr id="27" name="Oval 26"/>
          <p:cNvSpPr/>
          <p:nvPr/>
        </p:nvSpPr>
        <p:spPr>
          <a:xfrm>
            <a:off x="6748272" y="2423160"/>
            <a:ext cx="91440" cy="9144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12864" y="23317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Uvicorn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23317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Production ASGI server</a:t>
            </a:r>
          </a:p>
        </p:txBody>
      </p:sp>
      <p:sp>
        <p:nvSpPr>
          <p:cNvPr id="30" name="Oval 29"/>
          <p:cNvSpPr/>
          <p:nvPr/>
        </p:nvSpPr>
        <p:spPr>
          <a:xfrm>
            <a:off x="6748272" y="2807208"/>
            <a:ext cx="91440" cy="9144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12864" y="27157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Pydantic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27157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Request/response validation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748272" y="3191256"/>
            <a:ext cx="91440" cy="9144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12864" y="309981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OpenCV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6528" y="309981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Image decode + color conversion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3749039"/>
            <a:ext cx="5486400" cy="2103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" y="3749039"/>
            <a:ext cx="548640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38587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77DD"/>
                </a:solidFill>
                <a:latin typeface="Calibri"/>
              </a:rPr>
              <a:t>Frontend</a:t>
            </a:r>
          </a:p>
        </p:txBody>
      </p:sp>
      <p:sp>
        <p:nvSpPr>
          <p:cNvPr id="39" name="Oval 38"/>
          <p:cNvSpPr/>
          <p:nvPr/>
        </p:nvSpPr>
        <p:spPr>
          <a:xfrm>
            <a:off x="987552" y="4343399"/>
            <a:ext cx="91440" cy="9144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52144" y="425195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Vanilla JavaScript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35808" y="425195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Webcam loop + fetch API calls</a:t>
            </a:r>
          </a:p>
        </p:txBody>
      </p:sp>
      <p:sp>
        <p:nvSpPr>
          <p:cNvPr id="42" name="Oval 41"/>
          <p:cNvSpPr/>
          <p:nvPr/>
        </p:nvSpPr>
        <p:spPr>
          <a:xfrm>
            <a:off x="987552" y="4727447"/>
            <a:ext cx="91440" cy="9144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52144" y="463600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HTML5 Canvas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35808" y="463600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Real-time skeleton overlay</a:t>
            </a:r>
          </a:p>
        </p:txBody>
      </p:sp>
      <p:sp>
        <p:nvSpPr>
          <p:cNvPr id="45" name="Oval 44"/>
          <p:cNvSpPr/>
          <p:nvPr/>
        </p:nvSpPr>
        <p:spPr>
          <a:xfrm>
            <a:off x="987552" y="5111495"/>
            <a:ext cx="91440" cy="9144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52144" y="502005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CSS Variables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35808" y="502005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Dark theme + responsive layout</a:t>
            </a:r>
          </a:p>
        </p:txBody>
      </p:sp>
      <p:sp>
        <p:nvSpPr>
          <p:cNvPr id="48" name="Oval 47"/>
          <p:cNvSpPr/>
          <p:nvPr/>
        </p:nvSpPr>
        <p:spPr>
          <a:xfrm>
            <a:off x="987552" y="5495543"/>
            <a:ext cx="91440" cy="91440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52144" y="540410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MediaStream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35808" y="540410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Browser webcam frame capture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749039"/>
            <a:ext cx="5486400" cy="2103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583680" y="3749039"/>
            <a:ext cx="548640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20840" y="38587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Dev &amp; Analysis</a:t>
            </a:r>
          </a:p>
        </p:txBody>
      </p:sp>
      <p:sp>
        <p:nvSpPr>
          <p:cNvPr id="54" name="Oval 53"/>
          <p:cNvSpPr/>
          <p:nvPr/>
        </p:nvSpPr>
        <p:spPr>
          <a:xfrm>
            <a:off x="6748272" y="4343399"/>
            <a:ext cx="91440" cy="91440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912864" y="425195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96528" y="425195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Fast Python package manager</a:t>
            </a:r>
          </a:p>
        </p:txBody>
      </p:sp>
      <p:sp>
        <p:nvSpPr>
          <p:cNvPr id="57" name="Oval 56"/>
          <p:cNvSpPr/>
          <p:nvPr/>
        </p:nvSpPr>
        <p:spPr>
          <a:xfrm>
            <a:off x="6748272" y="4727447"/>
            <a:ext cx="91440" cy="91440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912864" y="463600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Jupyter + Matplotlib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96528" y="463600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Charts + confusion matrix</a:t>
            </a:r>
          </a:p>
        </p:txBody>
      </p:sp>
      <p:sp>
        <p:nvSpPr>
          <p:cNvPr id="60" name="Oval 59"/>
          <p:cNvSpPr/>
          <p:nvPr/>
        </p:nvSpPr>
        <p:spPr>
          <a:xfrm>
            <a:off x="6748272" y="5111495"/>
            <a:ext cx="91440" cy="91440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912864" y="502005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Seaborn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96528" y="502005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Statistical visualization</a:t>
            </a:r>
          </a:p>
        </p:txBody>
      </p:sp>
      <p:sp>
        <p:nvSpPr>
          <p:cNvPr id="63" name="Oval 62"/>
          <p:cNvSpPr/>
          <p:nvPr/>
        </p:nvSpPr>
        <p:spPr>
          <a:xfrm>
            <a:off x="6748272" y="5495543"/>
            <a:ext cx="91440" cy="91440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12864" y="540410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Swagger UI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96528" y="540410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Auto API documentation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F52"/>
                </a:solidFill>
                <a:latin typeface="Calibri"/>
              </a:rPr>
              <a:t>Eman Noor  ·  ASL Sign Language Recognition  ·  Deep Learning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C3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Real-time Detection in Your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61872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5486400" cy="12618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44752"/>
            <a:ext cx="548640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554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3"/>
                </a:solidFill>
                <a:latin typeface="Calibri"/>
              </a:rPr>
              <a:t>01  Live Webcam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947672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Click Start Camera → allow access → sign any ASL letter clearly in front of webcam — predictions appear instantly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44752"/>
            <a:ext cx="5486400" cy="12618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1444752"/>
            <a:ext cx="548640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8272" y="1554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ADD"/>
                </a:solidFill>
                <a:latin typeface="Calibri"/>
              </a:rPr>
              <a:t>02  Hand Skeleton Overlay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947672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All 21 MediaPipe landmarks drawn in real-time with colored finger connections directly on the camera feed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862072"/>
            <a:ext cx="5486400" cy="12618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2862072"/>
            <a:ext cx="548640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2971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77DD"/>
                </a:solidFill>
                <a:latin typeface="Calibri"/>
              </a:rPr>
              <a:t>03  Prediction +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364991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Predicted letter shown large with confidence % and inference time — top-5 animated confidence bars on right panel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862072"/>
            <a:ext cx="5486400" cy="12618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0" y="2862072"/>
            <a:ext cx="548640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48272" y="2971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04  Word 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364991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Hold any sign steady for 1.2 seconds to commit that letter — build complete words sign by sign, save to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279392"/>
            <a:ext cx="5486400" cy="12618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4279392"/>
            <a:ext cx="5486400" cy="54864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389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5A30"/>
                </a:solidFill>
                <a:latin typeface="Calibri"/>
              </a:rPr>
              <a:t>05  FastAPI Swagger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782312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Visit /api/docs — fully interactive endpoint testing with real model, upload images and get live JSON responses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279392"/>
            <a:ext cx="5486400" cy="12618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0" y="4279392"/>
            <a:ext cx="548640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4389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ADD"/>
                </a:solidFill>
                <a:latin typeface="Calibri"/>
              </a:rPr>
              <a:t>06  About 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782312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Visit /about — complete project explanation, pipeline diagram, tech stack, model architecture, and dataset details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961888"/>
            <a:ext cx="10515600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" y="5961888"/>
            <a:ext cx="1051560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6035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C3"/>
                </a:solidFill>
                <a:latin typeface="Calibri"/>
              </a:rPr>
              <a:t>localhost:8000   ·   localhost:8000/about   ·   localhost:8000/api/docs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F52"/>
                </a:solidFill>
                <a:latin typeface="Calibri"/>
              </a:rPr>
              <a:t>Eman Noor  ·  ASL Sign Language Recognition  ·  Deep Learning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77DD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Enhancements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61872"/>
            <a:ext cx="10515600" cy="36576"/>
          </a:xfrm>
          <a:prstGeom prst="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5486400" cy="13898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44752"/>
            <a:ext cx="548640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554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3"/>
                </a:solidFill>
                <a:latin typeface="Calibri"/>
              </a:rPr>
              <a:t>J &amp; Z Letter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92024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Implement LSTM/Transformer temporal model to classify motion letters using landmark sequences across multiple frames.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44752"/>
            <a:ext cx="5486400" cy="13898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1444752"/>
            <a:ext cx="548640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8272" y="1554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ADD"/>
                </a:solidFill>
                <a:latin typeface="Calibri"/>
              </a:rPr>
              <a:t>Full Word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92024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Extend from letter-by-letter to full ASL word/phrase recognition using a language model for contextual prediction.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017520"/>
            <a:ext cx="5486400" cy="13898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017520"/>
            <a:ext cx="548640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1272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77DD"/>
                </a:solidFill>
                <a:latin typeface="Calibri"/>
              </a:rPr>
              <a:t>Multi-Hand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493008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Process both hands simultaneously for two-handed signs — dual-stream landmark extraction with feature fusion.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017520"/>
            <a:ext cx="5486400" cy="13898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0" y="3017520"/>
            <a:ext cx="548640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48272" y="31272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Mobile App (TFLite)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493008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Export model to TensorFlow Lite for Android/iOS — landmark approach already optimized for mobile CPU inference.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590288"/>
            <a:ext cx="5486400" cy="13898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4590288"/>
            <a:ext cx="5486400" cy="54864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70001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5A30"/>
                </a:solidFill>
                <a:latin typeface="Calibri"/>
              </a:rPr>
              <a:t>Voice Output (TTS)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065775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Integrate text-to-speech to read committed words aloud — complete deaf-to-hearing communication solution.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590288"/>
            <a:ext cx="5486400" cy="13898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0" y="4590288"/>
            <a:ext cx="548640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470001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ADD"/>
                </a:solidFill>
                <a:latin typeface="Calibri"/>
              </a:rPr>
              <a:t>GPU Acceleration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5065775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Add CUDA/DirectML support — would increase throughput 10-50× for high-frequency production deployments.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F52"/>
                </a:solidFill>
                <a:latin typeface="Calibri"/>
              </a:rPr>
              <a:t>Eman Noor  ·  ASL Sign Language Recognition  ·  Deep Learning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0F1A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27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B0F1A"/>
                </a:solidFill>
                <a:latin typeface="Calibri"/>
              </a:rPr>
              <a:t>Eman Noor  ·  ASL Sign Language Recognition  ·  Deep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Project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44752"/>
            <a:ext cx="2377440" cy="1143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5840" y="1444752"/>
            <a:ext cx="237744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5727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3"/>
                </a:solidFill>
                <a:latin typeface="Calibri"/>
              </a:rPr>
              <a:t>99.18%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482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Test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444752"/>
            <a:ext cx="2377440" cy="1143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444752"/>
            <a:ext cx="237744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5727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78ADD"/>
                </a:solidFill>
                <a:latin typeface="Calibri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482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ASL Classes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44752"/>
            <a:ext cx="2377440" cy="1143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444752"/>
            <a:ext cx="237744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5727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F77DD"/>
                </a:solidFill>
                <a:latin typeface="Calibri"/>
              </a:rPr>
              <a:t>&lt;2ms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482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CPU Inference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444752"/>
            <a:ext cx="2377440" cy="1143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444752"/>
            <a:ext cx="237744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15727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9F27"/>
                </a:solidFill>
                <a:latin typeface="Calibri"/>
              </a:rPr>
              <a:t>181,720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0482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493B0"/>
                </a:solidFill>
                <a:latin typeface="Calibri"/>
              </a:rPr>
              <a:t>Training Samples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788920"/>
            <a:ext cx="5486400" cy="12984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" y="2788920"/>
            <a:ext cx="5486400" cy="54864"/>
          </a:xfrm>
          <a:prstGeom prst="rect">
            <a:avLst/>
          </a:prstGeom>
          <a:solidFill>
            <a:srgbClr val="00E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28986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3"/>
                </a:solidFill>
                <a:latin typeface="Calibri"/>
              </a:rPr>
              <a:t>Full Web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26440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Production FastAPI server + professional dark-themed frontend with live webcam — no Jupyter notebook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788920"/>
            <a:ext cx="5486400" cy="12984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0" y="2788920"/>
            <a:ext cx="548640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48272" y="28986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ADD"/>
                </a:solidFill>
                <a:latin typeface="Calibri"/>
              </a:rPr>
              <a:t>Real-time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26440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8+ predictions/second on CPU · &lt;2ms model inference · MediaPipe runs at 25+ FPS · no GPU required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270248"/>
            <a:ext cx="5486400" cy="12984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" y="4270248"/>
            <a:ext cx="5486400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" y="437997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77DD"/>
                </a:solidFill>
                <a:latin typeface="Calibri"/>
              </a:rPr>
              <a:t>Word Builder Feature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4745736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Hold signs to build complete words — genuine assistive technology, not just a demo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270248"/>
            <a:ext cx="5486400" cy="12984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0" y="4270248"/>
            <a:ext cx="5486400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48272" y="437997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9F27"/>
                </a:solidFill>
                <a:latin typeface="Calibri"/>
              </a:rPr>
              <a:t>Industry-grade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4745736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93B0"/>
                </a:solidFill>
                <a:latin typeface="Calibri"/>
              </a:rPr>
              <a:t>pyproject.toml · uv environment · __init__.py · Swagger docs · README · requirements.txt · Jupyter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1497</Words>
  <Application>Microsoft Office PowerPoint</Application>
  <PresentationFormat>Custom</PresentationFormat>
  <Paragraphs>292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2026-05-07T06:19:32Z</dcterms:modified>
  <cp:category/>
</cp:coreProperties>
</file>